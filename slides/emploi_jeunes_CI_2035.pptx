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Femmes</c:v>
                </c:pt>
              </c:strCache>
            </c:strRef>
          </c:tx>
          <c:spPr>
            <a:solidFill>
              <a:srgbClr val="1a6e7a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9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&lt; Primaire</c:v>
                </c:pt>
                <c:pt idx="1">
                  <c:v>Primaire</c:v>
                </c:pt>
                <c:pt idx="2">
                  <c:v>Sec. inf.</c:v>
                </c:pt>
                <c:pt idx="3">
                  <c:v>Sec. sup.</c:v>
                </c:pt>
                <c:pt idx="4">
                  <c:v>Tertiaire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0.38</c:v>
                </c:pt>
                <c:pt idx="1">
                  <c:v>0.53</c:v>
                </c:pt>
                <c:pt idx="2">
                  <c:v>0.6</c:v>
                </c:pt>
                <c:pt idx="3">
                  <c:v>0.77</c:v>
                </c:pt>
                <c:pt idx="4">
                  <c:v>0.8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Hommes</c:v>
                </c:pt>
              </c:strCache>
            </c:strRef>
          </c:tx>
          <c:spPr>
            <a:solidFill>
              <a:srgbClr val="e8a838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9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&lt; Primaire</c:v>
                </c:pt>
                <c:pt idx="1">
                  <c:v>Primaire</c:v>
                </c:pt>
                <c:pt idx="2">
                  <c:v>Sec. inf.</c:v>
                </c:pt>
                <c:pt idx="3">
                  <c:v>Sec. sup.</c:v>
                </c:pt>
                <c:pt idx="4">
                  <c:v>Tertiaire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0.19</c:v>
                </c:pt>
                <c:pt idx="1">
                  <c:v>0.29</c:v>
                </c:pt>
                <c:pt idx="2">
                  <c:v>0.37</c:v>
                </c:pt>
                <c:pt idx="3">
                  <c:v>0.39</c:v>
                </c:pt>
                <c:pt idx="4">
                  <c:v>0.55</c:v>
                </c:pt>
              </c:numCache>
            </c:numRef>
          </c:val>
        </c:ser>
        <c:gapWidth val="150"/>
        <c:overlap val="0"/>
        <c:axId val="36716557"/>
        <c:axId val="63681148"/>
      </c:barChart>
      <c:catAx>
        <c:axId val="3671655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63681148"/>
        <c:crosses val="autoZero"/>
        <c:auto val="1"/>
        <c:lblAlgn val="ctr"/>
        <c:lblOffset val="100"/>
        <c:noMultiLvlLbl val="0"/>
      </c:catAx>
      <c:valAx>
        <c:axId val="63681148"/>
        <c:scaling>
          <c:orientation val="minMax"/>
          <c:max val="1"/>
          <c:min val="0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36716557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1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ffff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Femmes</c:v>
                </c:pt>
              </c:strCache>
            </c:strRef>
          </c:tx>
          <c:spPr>
            <a:solidFill>
              <a:srgbClr val="c0392b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9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&lt; Primaire</c:v>
                </c:pt>
                <c:pt idx="1">
                  <c:v>Primaire</c:v>
                </c:pt>
                <c:pt idx="2">
                  <c:v>Sec. inf.</c:v>
                </c:pt>
                <c:pt idx="3">
                  <c:v>Sec. sup.</c:v>
                </c:pt>
                <c:pt idx="4">
                  <c:v>Tertiaire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0.34</c:v>
                </c:pt>
                <c:pt idx="1">
                  <c:v>0.48</c:v>
                </c:pt>
                <c:pt idx="2">
                  <c:v>0.53</c:v>
                </c:pt>
                <c:pt idx="3">
                  <c:v>0.65</c:v>
                </c:pt>
                <c:pt idx="4">
                  <c:v>0.44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Hommes</c:v>
                </c:pt>
              </c:strCache>
            </c:strRef>
          </c:tx>
          <c:spPr>
            <a:solidFill>
              <a:srgbClr val="2b9dae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b="0" sz="9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&lt; Primaire</c:v>
                </c:pt>
                <c:pt idx="1">
                  <c:v>Primaire</c:v>
                </c:pt>
                <c:pt idx="2">
                  <c:v>Sec. inf.</c:v>
                </c:pt>
                <c:pt idx="3">
                  <c:v>Sec. sup.</c:v>
                </c:pt>
                <c:pt idx="4">
                  <c:v>Tertiaire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5"/>
                <c:pt idx="0">
                  <c:v>0.16</c:v>
                </c:pt>
                <c:pt idx="1">
                  <c:v>0.27</c:v>
                </c:pt>
                <c:pt idx="2">
                  <c:v>0.3</c:v>
                </c:pt>
                <c:pt idx="3">
                  <c:v>0.32</c:v>
                </c:pt>
                <c:pt idx="4">
                  <c:v>0.39</c:v>
                </c:pt>
              </c:numCache>
            </c:numRef>
          </c:val>
        </c:ser>
        <c:gapWidth val="150"/>
        <c:overlap val="0"/>
        <c:axId val="67493781"/>
        <c:axId val="40069362"/>
      </c:barChart>
      <c:catAx>
        <c:axId val="6749378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40069362"/>
        <c:crosses val="autoZero"/>
        <c:auto val="1"/>
        <c:lblAlgn val="ctr"/>
        <c:lblOffset val="100"/>
        <c:noMultiLvlLbl val="0"/>
      </c:catAx>
      <c:valAx>
        <c:axId val="40069362"/>
        <c:scaling>
          <c:orientation val="minMax"/>
          <c:max val="0.8"/>
          <c:min val="0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67493781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1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fffff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Part emploi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explosion val="0"/>
          <c:dPt>
            <c:idx val="0"/>
            <c:spPr>
              <a:solidFill>
                <a:srgbClr val="0d1b2a"/>
              </a:solidFill>
              <a:ln w="0">
                <a:noFill/>
              </a:ln>
            </c:spPr>
          </c:dPt>
          <c:dPt>
            <c:idx val="1"/>
            <c:spPr>
              <a:solidFill>
                <a:srgbClr val="1a6e7a"/>
              </a:solidFill>
              <a:ln w="0">
                <a:noFill/>
              </a:ln>
            </c:spPr>
          </c:dPt>
          <c:dPt>
            <c:idx val="2"/>
            <c:spPr>
              <a:solidFill>
                <a:srgbClr val="2b9dae"/>
              </a:solidFill>
              <a:ln w="0">
                <a:noFill/>
              </a:ln>
            </c:spPr>
          </c:dPt>
          <c:dPt>
            <c:idx val="3"/>
            <c:spPr>
              <a:solidFill>
                <a:srgbClr val="e8a838"/>
              </a:solidFill>
              <a:ln w="0">
                <a:noFill/>
              </a:ln>
            </c:spPr>
          </c:dPt>
          <c:dPt>
            <c:idx val="4"/>
            <c:spPr>
              <a:solidFill>
                <a:srgbClr val="7f8c8d"/>
              </a:solidFill>
              <a:ln w="0">
                <a:noFill/>
              </a:ln>
            </c:spPr>
          </c:dPt>
          <c:dPt>
            <c:idx val="5"/>
            <c:spPr>
              <a:solidFill>
                <a:srgbClr val="bdc3c7"/>
              </a:solidFill>
              <a:ln w="0">
                <a:noFill/>
              </a:ln>
            </c:spPr>
          </c:dPt>
          <c:dLbls>
            <c:numFmt formatCode="0%" sourceLinked="0"/>
            <c:dLbl>
              <c:idx val="0"/>
              <c:numFmt formatCode="0%" sourceLinked="0"/>
              <c:txPr>
                <a:bodyPr wrap="square"/>
                <a:lstStyle/>
                <a:p>
                  <a:pPr>
                    <a:defRPr b="0" sz="11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1"/>
              <c:numFmt formatCode="0%" sourceLinked="0"/>
              <c:txPr>
                <a:bodyPr wrap="square"/>
                <a:lstStyle/>
                <a:p>
                  <a:pPr>
                    <a:defRPr b="0" sz="11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2"/>
              <c:numFmt formatCode="0%" sourceLinked="0"/>
              <c:txPr>
                <a:bodyPr wrap="square"/>
                <a:lstStyle/>
                <a:p>
                  <a:pPr>
                    <a:defRPr b="0" sz="11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3"/>
              <c:numFmt formatCode="0%" sourceLinked="0"/>
              <c:txPr>
                <a:bodyPr wrap="square"/>
                <a:lstStyle/>
                <a:p>
                  <a:pPr>
                    <a:defRPr b="0" sz="11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4"/>
              <c:numFmt formatCode="0%" sourceLinked="0"/>
              <c:txPr>
                <a:bodyPr wrap="square"/>
                <a:lstStyle/>
                <a:p>
                  <a:pPr>
                    <a:defRPr b="0" sz="11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dLbl>
              <c:idx val="5"/>
              <c:numFmt formatCode="0%" sourceLinked="0"/>
              <c:txPr>
                <a:bodyPr wrap="square"/>
                <a:lstStyle/>
                <a:p>
                  <a:pPr>
                    <a:defRPr b="0" sz="11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eparator>
</c:separator>
            </c:dLbl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eparator>
</c:separator>
            <c:showLeaderLines val="0"/>
          </c:dLbls>
          <c:cat>
            <c:strRef>
              <c:f>categories</c:f>
              <c:strCache>
                <c:ptCount val="6"/>
                <c:pt idx="0">
                  <c:v>Agriculture</c:v>
                </c:pt>
                <c:pt idx="1">
                  <c:v>Commerce</c:v>
                </c:pt>
                <c:pt idx="2">
                  <c:v>Industrie</c:v>
                </c:pt>
                <c:pt idx="3">
                  <c:v>Hébergement/restauration</c:v>
                </c:pt>
                <c:pt idx="4">
                  <c:v>Autres services</c:v>
                </c:pt>
                <c:pt idx="5">
                  <c:v>Reste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48.6</c:v>
                </c:pt>
                <c:pt idx="1">
                  <c:v>18.9</c:v>
                </c:pt>
                <c:pt idx="2">
                  <c:v>8.1</c:v>
                </c:pt>
                <c:pt idx="3">
                  <c:v>4.5</c:v>
                </c:pt>
                <c:pt idx="4">
                  <c:v>4</c:v>
                </c:pt>
                <c:pt idx="5">
                  <c:v>15.9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Tendance historique</c:v>
                </c:pt>
              </c:strCache>
            </c:strRef>
          </c:tx>
          <c:spPr>
            <a:solidFill>
              <a:srgbClr val="2c3e50"/>
            </a:solidFill>
            <a:ln w="31680">
              <a:solidFill>
                <a:srgbClr val="2c3e50"/>
              </a:solidFill>
              <a:round/>
            </a:ln>
          </c:spPr>
          <c:marker>
            <c:symbol val="circle"/>
            <c:size val="6"/>
            <c:spPr>
              <a:solidFill>
                <a:srgbClr val="2c3e50"/>
              </a:solidFill>
            </c:spPr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</c:strCache>
            </c:strRef>
          </c:cat>
          <c:val>
            <c:numRef>
              <c:f>0</c:f>
              <c:numCache>
                <c:formatCode>General</c:formatCode>
                <c:ptCount val="21"/>
                <c:pt idx="0">
                  <c:v>0.51</c:v>
                </c:pt>
                <c:pt idx="1">
                  <c:v>0.53</c:v>
                </c:pt>
                <c:pt idx="2">
                  <c:v>0.54</c:v>
                </c:pt>
                <c:pt idx="3">
                  <c:v>0.51</c:v>
                </c:pt>
                <c:pt idx="4">
                  <c:v>0.49</c:v>
                </c:pt>
                <c:pt idx="5">
                  <c:v>0.485</c:v>
                </c:pt>
                <c:pt idx="6">
                  <c:v>0.48</c:v>
                </c:pt>
                <c:pt idx="7">
                  <c:v>0.478</c:v>
                </c:pt>
                <c:pt idx="8">
                  <c:v>0.476</c:v>
                </c:pt>
                <c:pt idx="9">
                  <c:v>0.477</c:v>
                </c:pt>
                <c:pt idx="10">
                  <c:v>0.48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Scén. 1 : Inertie (-0.5%/an)</c:v>
                </c:pt>
              </c:strCache>
            </c:strRef>
          </c:tx>
          <c:spPr>
            <a:solidFill>
              <a:srgbClr val="c0392b"/>
            </a:solidFill>
            <a:ln w="31680">
              <a:solidFill>
                <a:srgbClr val="c0392b"/>
              </a:solidFill>
              <a:round/>
            </a:ln>
          </c:spPr>
          <c:marker>
            <c:symbol val="circle"/>
            <c:size val="6"/>
            <c:spPr>
              <a:solidFill>
                <a:srgbClr val="c0392b"/>
              </a:solidFill>
            </c:spPr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</c:strCache>
            </c:strRef>
          </c:cat>
          <c:val>
            <c:numRef>
              <c:f>1</c:f>
              <c:numCache>
                <c:formatCode>General</c:formatCode>
                <c:ptCount val="21"/>
                <c:pt idx="10">
                  <c:v>0.48</c:v>
                </c:pt>
                <c:pt idx="11">
                  <c:v>0.477</c:v>
                </c:pt>
                <c:pt idx="12">
                  <c:v>0.475</c:v>
                </c:pt>
                <c:pt idx="13">
                  <c:v>0.472</c:v>
                </c:pt>
                <c:pt idx="14">
                  <c:v>0.469</c:v>
                </c:pt>
                <c:pt idx="15">
                  <c:v>0.466</c:v>
                </c:pt>
                <c:pt idx="16">
                  <c:v>0.463</c:v>
                </c:pt>
                <c:pt idx="17">
                  <c:v>0.461</c:v>
                </c:pt>
                <c:pt idx="18">
                  <c:v>0.458</c:v>
                </c:pt>
                <c:pt idx="19">
                  <c:v>0.457</c:v>
                </c:pt>
                <c:pt idx="20">
                  <c:v>0.456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Scén. 2 : Réformes partielles (-1.5%/an)</c:v>
                </c:pt>
              </c:strCache>
            </c:strRef>
          </c:tx>
          <c:spPr>
            <a:solidFill>
              <a:srgbClr val="e8a838"/>
            </a:solidFill>
            <a:ln w="31680">
              <a:solidFill>
                <a:srgbClr val="e8a838"/>
              </a:solidFill>
              <a:round/>
            </a:ln>
          </c:spPr>
          <c:marker>
            <c:symbol val="circle"/>
            <c:size val="6"/>
            <c:spPr>
              <a:solidFill>
                <a:srgbClr val="e8a838"/>
              </a:solidFill>
            </c:spPr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</c:strCache>
            </c:strRef>
          </c:cat>
          <c:val>
            <c:numRef>
              <c:f>2</c:f>
              <c:numCache>
                <c:formatCode>General</c:formatCode>
                <c:ptCount val="21"/>
                <c:pt idx="10">
                  <c:v>0.48</c:v>
                </c:pt>
                <c:pt idx="11">
                  <c:v>0.473</c:v>
                </c:pt>
                <c:pt idx="12">
                  <c:v>0.466</c:v>
                </c:pt>
                <c:pt idx="13">
                  <c:v>0.459</c:v>
                </c:pt>
                <c:pt idx="14">
                  <c:v>0.452</c:v>
                </c:pt>
                <c:pt idx="15">
                  <c:v>0.445</c:v>
                </c:pt>
                <c:pt idx="16">
                  <c:v>0.438</c:v>
                </c:pt>
                <c:pt idx="17">
                  <c:v>0.431</c:v>
                </c:pt>
                <c:pt idx="18">
                  <c:v>0.425</c:v>
                </c:pt>
                <c:pt idx="19">
                  <c:v>0.418</c:v>
                </c:pt>
                <c:pt idx="20">
                  <c:v>0.412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Scén. 3 : Transformation structurelle (-3%/an)</c:v>
                </c:pt>
              </c:strCache>
            </c:strRef>
          </c:tx>
          <c:spPr>
            <a:solidFill>
              <a:srgbClr val="27ae60"/>
            </a:solidFill>
            <a:ln w="31680">
              <a:solidFill>
                <a:srgbClr val="27ae60"/>
              </a:solidFill>
              <a:round/>
            </a:ln>
          </c:spPr>
          <c:marker>
            <c:symbol val="circle"/>
            <c:size val="6"/>
            <c:spPr>
              <a:solidFill>
                <a:srgbClr val="27ae60"/>
              </a:solidFill>
            </c:spPr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2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</c:strCache>
            </c:strRef>
          </c:cat>
          <c:val>
            <c:numRef>
              <c:f>3</c:f>
              <c:numCache>
                <c:formatCode>General</c:formatCode>
                <c:ptCount val="21"/>
                <c:pt idx="10">
                  <c:v>0.48</c:v>
                </c:pt>
                <c:pt idx="11">
                  <c:v>0.466</c:v>
                </c:pt>
                <c:pt idx="12">
                  <c:v>0.451</c:v>
                </c:pt>
                <c:pt idx="13">
                  <c:v>0.438</c:v>
                </c:pt>
                <c:pt idx="14">
                  <c:v>0.425</c:v>
                </c:pt>
                <c:pt idx="15">
                  <c:v>0.412</c:v>
                </c:pt>
                <c:pt idx="16">
                  <c:v>0.4</c:v>
                </c:pt>
                <c:pt idx="17">
                  <c:v>0.388</c:v>
                </c:pt>
                <c:pt idx="18">
                  <c:v>0.376</c:v>
                </c:pt>
                <c:pt idx="19">
                  <c:v>0.365</c:v>
                </c:pt>
                <c:pt idx="20">
                  <c:v>0.354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57381468"/>
        <c:axId val="49049087"/>
      </c:lineChart>
      <c:catAx>
        <c:axId val="5738146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49049087"/>
        <c:crosses val="autoZero"/>
        <c:auto val="1"/>
        <c:lblAlgn val="ctr"/>
        <c:lblOffset val="100"/>
        <c:noMultiLvlLbl val="0"/>
      </c:catAx>
      <c:valAx>
        <c:axId val="49049087"/>
        <c:scaling>
          <c:orientation val="minMax"/>
          <c:max val="0.6"/>
          <c:min val="0.3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64748b"/>
                </a:solidFill>
                <a:latin typeface="Arial"/>
              </a:defRPr>
            </a:pPr>
          </a:p>
        </c:txPr>
        <c:crossAx val="57381468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9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fffff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Cliquez pour déplacer la diapo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16C61D5-0CE1-4E46-BD10-0A5EFE756B7B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F7D21D-7ECD-471C-A56B-DFD9D3007B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D36E8C-B921-4ECD-872D-65BDCEC20A6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18B49F-B3E8-4A54-A59B-69A46102FDC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283158-59AB-4C25-9D3E-89E149E9388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2F9B8E-D51E-4323-91E2-FEF496755A4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4C9DEE-D112-4C49-A3EA-992E126BC3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678D86-60DB-4AB1-916D-68A77326218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E29FB1-91B2-4A6A-A8F8-0A6BAB32338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7AF071-17DB-4CFF-9319-1BC8C113D57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8A1A3B-C13F-4266-9695-B120CF21DEB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0AFF0D-6CFD-4A84-836A-9844F3D9B7A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F36B24-DF73-4CED-87B7-D1B96B97F6B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Cliquez pour éditer le format du texte-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titre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1a6e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64520" y="2011680"/>
            <a:ext cx="4114440" cy="63720"/>
          </a:xfrm>
          <a:prstGeom prst="rect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384120" y="640080"/>
            <a:ext cx="59432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Trebuchet MS"/>
                <a:ea typeface="Trebuchet MS"/>
              </a:rPr>
              <a:t>Emploi des Jeunes en</a:t>
            </a:r>
            <a:endParaRPr b="0" lang="fr-FR" sz="3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Trebuchet MS"/>
                <a:ea typeface="Trebuchet MS"/>
              </a:rPr>
              <a:t>Côte d'Ivoire</a:t>
            </a:r>
            <a:endParaRPr b="0" lang="fr-FR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384120" y="2194560"/>
            <a:ext cx="5943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2b9dae"/>
                </a:solidFill>
                <a:latin typeface="Calibri"/>
                <a:ea typeface="Calibri"/>
              </a:rPr>
              <a:t>Analyse structurelle &amp; Projections 2035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384120" y="2926080"/>
            <a:ext cx="6400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f8c8d"/>
                </a:solidFill>
                <a:latin typeface="Calibri"/>
                <a:ea typeface="Calibri"/>
              </a:rPr>
              <a:t>Data for Development Hackathon · Côte d'Ivoire 2026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f8c8d"/>
                </a:solidFill>
                <a:latin typeface="Calibri"/>
                <a:ea typeface="Calibri"/>
              </a:rPr>
              <a:t>World Data Lab · Africa Youth Employment Clock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6858000" y="274320"/>
            <a:ext cx="2285640" cy="2285640"/>
          </a:xfrm>
          <a:prstGeom prst="ellipse">
            <a:avLst/>
          </a:prstGeom>
          <a:solidFill>
            <a:srgbClr val="1a6e7a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7498080" y="2286000"/>
            <a:ext cx="1462680" cy="1462680"/>
          </a:xfrm>
          <a:prstGeom prst="ellipse">
            <a:avLst/>
          </a:prstGeom>
          <a:solidFill>
            <a:srgbClr val="e8a838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84120" y="3931920"/>
            <a:ext cx="8503560" cy="914040"/>
          </a:xfrm>
          <a:prstGeom prst="rect">
            <a:avLst/>
          </a:prstGeom>
          <a:solidFill>
            <a:srgbClr val="1a6e7a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502920" y="3977640"/>
            <a:ext cx="8229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PROBLÉMATIQUE : Malgré une croissance soutenue, près d'un jeune ivoirien sur deux reste hors emploi productif — chômage, inactivité, informalité. Quel avenir à l'horizon 2035 ?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457200" y="201240"/>
            <a:ext cx="1906200" cy="237240"/>
          </a:xfrm>
          <a:prstGeom prst="roundRect">
            <a:avLst>
              <a:gd name="adj" fmla="val 15385"/>
            </a:avLst>
          </a:prstGeom>
          <a:solidFill>
            <a:srgbClr val="1a6e7a"/>
          </a:solidFill>
          <a:ln w="12700">
            <a:solidFill>
              <a:srgbClr val="1a6e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457200" y="191880"/>
            <a:ext cx="1906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CONTEXTE &amp; ENJEUX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Trebuchet MS"/>
                <a:ea typeface="Trebuchet MS"/>
              </a:rPr>
              <a:t>Une économie en croissance, une jeunesse laissée pour compte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457200" y="1234440"/>
            <a:ext cx="1919880" cy="1188360"/>
          </a:xfrm>
          <a:prstGeom prst="rect">
            <a:avLst/>
          </a:prstGeom>
          <a:solidFill>
            <a:srgbClr val="1a6e7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457200" y="134424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Trebuchet MS"/>
                <a:ea typeface="Trebuchet MS"/>
              </a:rPr>
              <a:t>28 M</a:t>
            </a:r>
            <a:endParaRPr b="0" lang="fr-F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457200" y="189288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jeunes 15–35 ans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(population cible)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2514600" y="1234440"/>
            <a:ext cx="1919880" cy="1188360"/>
          </a:xfrm>
          <a:prstGeom prst="rect">
            <a:avLst/>
          </a:prstGeom>
          <a:solidFill>
            <a:srgbClr val="2b9da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2514600" y="134424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Trebuchet MS"/>
                <a:ea typeface="Trebuchet MS"/>
              </a:rPr>
              <a:t>~7%</a:t>
            </a:r>
            <a:endParaRPr b="0" lang="fr-F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2514600" y="189288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croissance du PIB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(avant 2025)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4563000" y="1234440"/>
            <a:ext cx="1919880" cy="1188360"/>
          </a:xfrm>
          <a:prstGeom prst="rect">
            <a:avLst/>
          </a:prstGeom>
          <a:solidFill>
            <a:srgbClr val="2c3e5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4563000" y="134424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Trebuchet MS"/>
                <a:ea typeface="Trebuchet MS"/>
              </a:rPr>
              <a:t>48.6%</a:t>
            </a:r>
            <a:endParaRPr b="0" lang="fr-F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4563000" y="189288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emplois dans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l'agriculture informelle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6629400" y="1234440"/>
            <a:ext cx="1919880" cy="1188360"/>
          </a:xfrm>
          <a:prstGeom prst="rect">
            <a:avLst/>
          </a:prstGeom>
          <a:solidFill>
            <a:srgbClr val="e8a838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6629400" y="1344240"/>
            <a:ext cx="1919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Trebuchet MS"/>
                <a:ea typeface="Trebuchet MS"/>
              </a:rPr>
              <a:t>68%</a:t>
            </a:r>
            <a:endParaRPr b="0" lang="fr-F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6629400" y="189288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emploi concentré dans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2 secteurs informels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457200" y="26060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2b9dae"/>
                </a:solidFill>
                <a:latin typeface="Calibri"/>
                <a:ea typeface="Calibri"/>
              </a:rPr>
              <a:t>TENSIONS STRUCTURELLES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457200" y="2834640"/>
            <a:ext cx="822924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Croissance économique non inclusive : le PIB progresse mais ne crée pas suffisamment d'emplois formels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Désalignement éducation-marché : les diplômés de l'enseignement supérieur sont les plus vulnérables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Ségrégation de genre systémique : les femmes sont exclues du marché à tous les niveaux d'éducation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b="0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Hyper-concentration sectorielle : agriculture + commerce = 68% de l'emploi des jeunes (informel et précaire)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7"/>
          <p:cNvSpPr/>
          <p:nvPr/>
        </p:nvSpPr>
        <p:spPr>
          <a:xfrm>
            <a:off x="0" y="4617720"/>
            <a:ext cx="9143640" cy="525600"/>
          </a:xfrm>
          <a:prstGeom prst="rect">
            <a:avLst/>
          </a:prstGeom>
          <a:solidFill>
            <a:srgbClr val="1a6e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18"/>
          <p:cNvSpPr/>
          <p:nvPr/>
        </p:nvSpPr>
        <p:spPr>
          <a:xfrm>
            <a:off x="365760" y="463608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💡 </a:t>
            </a:r>
            <a:r>
              <a:rPr b="1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La Côte d'Ivoire fait face à un paradoxe : la croissance économique n'est pas transformatrice pour les jeunes.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457200" y="201240"/>
            <a:ext cx="2386080" cy="237240"/>
          </a:xfrm>
          <a:prstGeom prst="roundRect">
            <a:avLst>
              <a:gd name="adj" fmla="val 15385"/>
            </a:avLst>
          </a:prstGeom>
          <a:solidFill>
            <a:srgbClr val="1a6e7a"/>
          </a:solidFill>
          <a:ln w="12700">
            <a:solidFill>
              <a:srgbClr val="1a6e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457200" y="191880"/>
            <a:ext cx="2386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DONNÉES &amp; MÉTHODOLOGIE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Trebuchet MS"/>
                <a:ea typeface="Trebuchet MS"/>
              </a:rPr>
              <a:t>Les données révèlent une vulnérabilité à double dimension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457200" y="1097280"/>
            <a:ext cx="4023000" cy="3382920"/>
          </a:xfrm>
          <a:prstGeom prst="rect">
            <a:avLst/>
          </a:prstGeom>
          <a:solidFill>
            <a:srgbClr val="ebf4f6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594360" y="11887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6e7a"/>
                </a:solidFill>
                <a:latin typeface="Calibri"/>
                <a:ea typeface="Calibri"/>
              </a:rPr>
              <a:t>SOURCES DE DONNÉES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594360" y="1554480"/>
            <a:ext cx="374868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Africa Youth Employment Clock (africayouthjobs.io)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BIT / ILO – données emploi par éducation &amp; genre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Secteurs : ci_sector_15_35 (21 secteurs ISIC)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Période : 2015–2025 · Population : 15–35 ans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c3e50"/>
              </a:buClr>
              <a:buFont typeface="Symbol" charset="2"/>
              <a:buChar char=""/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330 observations · filtrées strictement CIV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6"/>
          <p:cNvSpPr/>
          <p:nvPr/>
        </p:nvSpPr>
        <p:spPr>
          <a:xfrm>
            <a:off x="4663440" y="1097280"/>
            <a:ext cx="4023000" cy="338292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4800600" y="11887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a838"/>
                </a:solidFill>
                <a:latin typeface="Calibri"/>
                <a:ea typeface="Calibri"/>
              </a:rPr>
              <a:t>INDICATEUR CLÉ : VULNÉRABILITÉ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4800600" y="160020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b9dae"/>
                </a:solidFill>
                <a:latin typeface="Calibri"/>
                <a:ea typeface="Calibri"/>
              </a:rPr>
              <a:t>Vulnérabilité = Taux de chômage + Taux d'inactivité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4800600" y="2148840"/>
            <a:ext cx="3748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Un indice de 0.65 signifie que 65% des jeunes de ce groupe sont hors emploi productif — ni au travail, ni en formation.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0"/>
          <p:cNvSpPr/>
          <p:nvPr/>
        </p:nvSpPr>
        <p:spPr>
          <a:xfrm>
            <a:off x="4800600" y="3063240"/>
            <a:ext cx="3657240" cy="72720"/>
          </a:xfrm>
          <a:prstGeom prst="rect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4800600" y="3200400"/>
            <a:ext cx="3748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f8c8d"/>
                </a:solidFill>
                <a:latin typeface="Calibri"/>
                <a:ea typeface="Calibri"/>
              </a:rPr>
              <a:t>6 analyses : chômage, inactivité, vulnérabilité, tendance temporelle, secteurs, genre.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2"/>
          <p:cNvSpPr/>
          <p:nvPr/>
        </p:nvSpPr>
        <p:spPr>
          <a:xfrm>
            <a:off x="0" y="4617720"/>
            <a:ext cx="9143640" cy="525600"/>
          </a:xfrm>
          <a:prstGeom prst="rect">
            <a:avLst/>
          </a:prstGeom>
          <a:solidFill>
            <a:srgbClr val="1a6e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365760" y="463608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💡 </a:t>
            </a:r>
            <a:r>
              <a:rPr b="1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L'indice de vulnérabilité capture l'invisible : les jeunes découragés et exclus que le taux de chômage officiel ne mesure pas.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457200" y="201240"/>
            <a:ext cx="3058200" cy="237240"/>
          </a:xfrm>
          <a:prstGeom prst="roundRect">
            <a:avLst>
              <a:gd name="adj" fmla="val 15385"/>
            </a:avLst>
          </a:prstGeom>
          <a:solidFill>
            <a:srgbClr val="1a6e7a"/>
          </a:solidFill>
          <a:ln w="12700">
            <a:solidFill>
              <a:srgbClr val="1a6e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457200" y="191880"/>
            <a:ext cx="3058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INSIGHT 1 · PARADOXE ÉDUCATIF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Trebuchet MS"/>
                <a:ea typeface="Trebuchet MS"/>
              </a:rPr>
              <a:t>Plus diplômé = Plus vulnérable : l'éducation ne protège pas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3" name="Chart 0"/>
          <p:cNvGraphicFramePr/>
          <p:nvPr/>
        </p:nvGraphicFramePr>
        <p:xfrm>
          <a:off x="457200" y="1051560"/>
          <a:ext cx="5486040" cy="333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4" name="Shape 3"/>
          <p:cNvSpPr/>
          <p:nvPr/>
        </p:nvSpPr>
        <p:spPr>
          <a:xfrm>
            <a:off x="6126480" y="1051560"/>
            <a:ext cx="2651400" cy="1096920"/>
          </a:xfrm>
          <a:prstGeom prst="rect">
            <a:avLst/>
          </a:prstGeom>
          <a:solidFill>
            <a:srgbClr val="c0392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6126480" y="109728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Trebuchet MS"/>
                <a:ea typeface="Trebuchet MS"/>
              </a:rPr>
              <a:t>0.80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6126480" y="164592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Vulnérabilité femmes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niveau Tertiaire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6126480" y="2286000"/>
            <a:ext cx="2651400" cy="1096920"/>
          </a:xfrm>
          <a:prstGeom prst="rect">
            <a:avLst/>
          </a:prstGeom>
          <a:solidFill>
            <a:srgbClr val="2c3e50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6126480" y="233172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e8a838"/>
                </a:solidFill>
                <a:latin typeface="Trebuchet MS"/>
                <a:ea typeface="Trebuchet MS"/>
              </a:rPr>
              <a:t>27.9%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6126480" y="2880360"/>
            <a:ext cx="2651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Taux de chômage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level Tertiaire (2025)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9"/>
          <p:cNvSpPr/>
          <p:nvPr/>
        </p:nvSpPr>
        <p:spPr>
          <a:xfrm>
            <a:off x="6126480" y="3520440"/>
            <a:ext cx="2651400" cy="776880"/>
          </a:xfrm>
          <a:prstGeom prst="rect">
            <a:avLst/>
          </a:prstGeom>
          <a:solidFill>
            <a:srgbClr val="1a6e7a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6126480" y="358452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vs 1.8% pour les jeunes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sans éducation formelle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11"/>
          <p:cNvSpPr/>
          <p:nvPr/>
        </p:nvSpPr>
        <p:spPr>
          <a:xfrm>
            <a:off x="0" y="4617720"/>
            <a:ext cx="9143640" cy="525600"/>
          </a:xfrm>
          <a:prstGeom prst="rect">
            <a:avLst/>
          </a:prstGeom>
          <a:solidFill>
            <a:srgbClr val="1a6e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365760" y="463608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💡 </a:t>
            </a:r>
            <a:r>
              <a:rPr b="1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Le marché du travail ivoirien pénalise ses propres diplômés : signal clair d'un déficit d'emplois formels qualifiés.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457200" y="201240"/>
            <a:ext cx="4594680" cy="237240"/>
          </a:xfrm>
          <a:prstGeom prst="roundRect">
            <a:avLst>
              <a:gd name="adj" fmla="val 15385"/>
            </a:avLst>
          </a:prstGeom>
          <a:solidFill>
            <a:srgbClr val="1a6e7a"/>
          </a:solidFill>
          <a:ln w="12700">
            <a:solidFill>
              <a:srgbClr val="1a6e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457200" y="191880"/>
            <a:ext cx="4594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INSIGHT 2 · EXCLUSION STRUCTURELLE DES FEMMES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Trebuchet MS"/>
                <a:ea typeface="Trebuchet MS"/>
              </a:rPr>
              <a:t>Les femmes : exclues à chaque niveau d'éducation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7" name="Chart 0"/>
          <p:cNvGraphicFramePr/>
          <p:nvPr/>
        </p:nvGraphicFramePr>
        <p:xfrm>
          <a:off x="457200" y="1051560"/>
          <a:ext cx="5303160" cy="333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8" name="Shape 3"/>
          <p:cNvSpPr/>
          <p:nvPr/>
        </p:nvSpPr>
        <p:spPr>
          <a:xfrm>
            <a:off x="5989320" y="1051560"/>
            <a:ext cx="2834280" cy="33372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6126480" y="11430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48" strike="noStrike">
                <a:solidFill>
                  <a:srgbClr val="e8a838"/>
                </a:solidFill>
                <a:latin typeface="Calibri"/>
                <a:ea typeface="Calibri"/>
              </a:rPr>
              <a:t>ANALYSE GENRE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5"/>
          <p:cNvSpPr/>
          <p:nvPr/>
        </p:nvSpPr>
        <p:spPr>
          <a:xfrm>
            <a:off x="6144840" y="1508760"/>
            <a:ext cx="200880" cy="200880"/>
          </a:xfrm>
          <a:prstGeom prst="ellipse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6400800" y="1481400"/>
            <a:ext cx="2285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Les femmes sont + inactives que les hommes à TOUS les niveaux d'éducation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7"/>
          <p:cNvSpPr/>
          <p:nvPr/>
        </p:nvSpPr>
        <p:spPr>
          <a:xfrm>
            <a:off x="6144840" y="1947600"/>
            <a:ext cx="200880" cy="200880"/>
          </a:xfrm>
          <a:prstGeom prst="ellipse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8"/>
          <p:cNvSpPr/>
          <p:nvPr/>
        </p:nvSpPr>
        <p:spPr>
          <a:xfrm>
            <a:off x="6400800" y="1920240"/>
            <a:ext cx="2285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Écart maximal : Sec. supérieur → femmes 65% vs hommes 32% (×2)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9"/>
          <p:cNvSpPr/>
          <p:nvPr/>
        </p:nvSpPr>
        <p:spPr>
          <a:xfrm>
            <a:off x="6144840" y="2386440"/>
            <a:ext cx="200880" cy="200880"/>
          </a:xfrm>
          <a:prstGeom prst="ellipse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0"/>
          <p:cNvSpPr/>
          <p:nvPr/>
        </p:nvSpPr>
        <p:spPr>
          <a:xfrm>
            <a:off x="6400800" y="2359080"/>
            <a:ext cx="2285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Secteurs féminins : éducation, alimentation, services — précaires et peu rémunérés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1"/>
          <p:cNvSpPr/>
          <p:nvPr/>
        </p:nvSpPr>
        <p:spPr>
          <a:xfrm>
            <a:off x="6144840" y="2825640"/>
            <a:ext cx="200880" cy="200880"/>
          </a:xfrm>
          <a:prstGeom prst="ellipse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2"/>
          <p:cNvSpPr/>
          <p:nvPr/>
        </p:nvSpPr>
        <p:spPr>
          <a:xfrm>
            <a:off x="6400800" y="2797920"/>
            <a:ext cx="2285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Agriculture et construction restent massivement masculins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3"/>
          <p:cNvSpPr/>
          <p:nvPr/>
        </p:nvSpPr>
        <p:spPr>
          <a:xfrm>
            <a:off x="6144840" y="3264480"/>
            <a:ext cx="200880" cy="200880"/>
          </a:xfrm>
          <a:prstGeom prst="ellipse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4"/>
          <p:cNvSpPr/>
          <p:nvPr/>
        </p:nvSpPr>
        <p:spPr>
          <a:xfrm>
            <a:off x="6400800" y="3237120"/>
            <a:ext cx="22856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L'inactivité féminine ≠ choix : c'est une exclusion structurelle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5"/>
          <p:cNvSpPr/>
          <p:nvPr/>
        </p:nvSpPr>
        <p:spPr>
          <a:xfrm>
            <a:off x="0" y="4617720"/>
            <a:ext cx="9143640" cy="525600"/>
          </a:xfrm>
          <a:prstGeom prst="rect">
            <a:avLst/>
          </a:prstGeom>
          <a:solidFill>
            <a:srgbClr val="1a6e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16"/>
          <p:cNvSpPr/>
          <p:nvPr/>
        </p:nvSpPr>
        <p:spPr>
          <a:xfrm>
            <a:off x="365760" y="463608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💡 </a:t>
            </a:r>
            <a:r>
              <a:rPr b="1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L'inactivité féminine est le signal le plus fort de l'exclusion — elle ne figure pas dans le taux de chômage officiel.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457200" y="201240"/>
            <a:ext cx="3442320" cy="237240"/>
          </a:xfrm>
          <a:prstGeom prst="roundRect">
            <a:avLst>
              <a:gd name="adj" fmla="val 15385"/>
            </a:avLst>
          </a:prstGeom>
          <a:solidFill>
            <a:srgbClr val="1a6e7a"/>
          </a:solidFill>
          <a:ln w="12700">
            <a:solidFill>
              <a:srgbClr val="1a6e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457200" y="191880"/>
            <a:ext cx="3442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INSIGHT 3 · STRUCTURE SECTORIELLE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Trebuchet MS"/>
                <a:ea typeface="Trebuchet MS"/>
              </a:rPr>
              <a:t>68% des jeunes dans 2 secteurs informels : une économie fragile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5" name="Chart 0"/>
          <p:cNvGraphicFramePr/>
          <p:nvPr/>
        </p:nvGraphicFramePr>
        <p:xfrm>
          <a:off x="457200" y="1097280"/>
          <a:ext cx="4571640" cy="329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6" name="Text 3"/>
          <p:cNvSpPr/>
          <p:nvPr/>
        </p:nvSpPr>
        <p:spPr>
          <a:xfrm>
            <a:off x="5303520" y="109728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1a6e7a"/>
                </a:solidFill>
                <a:latin typeface="Calibri"/>
                <a:ea typeface="Calibri"/>
              </a:rPr>
              <a:t>IMPLICATIONS POLITIQUES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4"/>
          <p:cNvSpPr/>
          <p:nvPr/>
        </p:nvSpPr>
        <p:spPr>
          <a:xfrm>
            <a:off x="5303520" y="1508760"/>
            <a:ext cx="3565800" cy="685440"/>
          </a:xfrm>
          <a:prstGeom prst="rect">
            <a:avLst/>
          </a:prstGeom>
          <a:solidFill>
            <a:srgbClr val="ebf4f6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5303520" y="1508760"/>
            <a:ext cx="82080" cy="68544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5504760" y="1536120"/>
            <a:ext cx="32914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c3e50"/>
                </a:solidFill>
                <a:latin typeface="Calibri"/>
                <a:ea typeface="Calibri"/>
              </a:rPr>
              <a:t>Agriculture 48.6% : informelle, non déclarée, à faible productivité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7"/>
          <p:cNvSpPr/>
          <p:nvPr/>
        </p:nvSpPr>
        <p:spPr>
          <a:xfrm>
            <a:off x="5303520" y="2286000"/>
            <a:ext cx="3565800" cy="685440"/>
          </a:xfrm>
          <a:prstGeom prst="rect">
            <a:avLst/>
          </a:prstGeom>
          <a:solidFill>
            <a:srgbClr val="ebf4f6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8"/>
          <p:cNvSpPr/>
          <p:nvPr/>
        </p:nvSpPr>
        <p:spPr>
          <a:xfrm>
            <a:off x="5303520" y="2286000"/>
            <a:ext cx="82080" cy="685440"/>
          </a:xfrm>
          <a:prstGeom prst="rect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5504760" y="2313360"/>
            <a:ext cx="32914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c3e50"/>
                </a:solidFill>
                <a:latin typeface="Calibri"/>
                <a:ea typeface="Calibri"/>
              </a:rPr>
              <a:t>Commerce 18.9% : peu de valeur ajoutée, emplois précaires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0"/>
          <p:cNvSpPr/>
          <p:nvPr/>
        </p:nvSpPr>
        <p:spPr>
          <a:xfrm>
            <a:off x="5303520" y="3063240"/>
            <a:ext cx="3565800" cy="685440"/>
          </a:xfrm>
          <a:prstGeom prst="rect">
            <a:avLst/>
          </a:prstGeom>
          <a:solidFill>
            <a:srgbClr val="ebf4f6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1"/>
          <p:cNvSpPr/>
          <p:nvPr/>
        </p:nvSpPr>
        <p:spPr>
          <a:xfrm>
            <a:off x="5303520" y="3063240"/>
            <a:ext cx="82080" cy="68544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5504760" y="3090600"/>
            <a:ext cx="32914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c3e50"/>
                </a:solidFill>
                <a:latin typeface="Calibri"/>
                <a:ea typeface="Calibri"/>
              </a:rPr>
              <a:t>Industrie &amp; services : potentiel de formalisation à activer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3"/>
          <p:cNvSpPr/>
          <p:nvPr/>
        </p:nvSpPr>
        <p:spPr>
          <a:xfrm>
            <a:off x="5303520" y="3840480"/>
            <a:ext cx="3565800" cy="685440"/>
          </a:xfrm>
          <a:prstGeom prst="rect">
            <a:avLst/>
          </a:prstGeom>
          <a:solidFill>
            <a:srgbClr val="ebf4f6"/>
          </a:solidFill>
          <a:ln w="0">
            <a:noFill/>
          </a:ln>
          <a:effectLst>
            <a:outerShdw algn="bl" blurRad="507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4"/>
          <p:cNvSpPr/>
          <p:nvPr/>
        </p:nvSpPr>
        <p:spPr>
          <a:xfrm>
            <a:off x="5303520" y="3840480"/>
            <a:ext cx="82080" cy="685440"/>
          </a:xfrm>
          <a:prstGeom prst="rect">
            <a:avLst/>
          </a:prstGeom>
          <a:solidFill>
            <a:srgbClr val="2b9d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5"/>
          <p:cNvSpPr/>
          <p:nvPr/>
        </p:nvSpPr>
        <p:spPr>
          <a:xfrm>
            <a:off x="5504760" y="3867840"/>
            <a:ext cx="32914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2c3e50"/>
                </a:solidFill>
                <a:latin typeface="Calibri"/>
                <a:ea typeface="Calibri"/>
              </a:rPr>
              <a:t>Numérique, agri-tech, énergie verte : secteurs quasi-absents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16"/>
          <p:cNvSpPr/>
          <p:nvPr/>
        </p:nvSpPr>
        <p:spPr>
          <a:xfrm>
            <a:off x="0" y="4617720"/>
            <a:ext cx="9143640" cy="525600"/>
          </a:xfrm>
          <a:prstGeom prst="rect">
            <a:avLst/>
          </a:prstGeom>
          <a:solidFill>
            <a:srgbClr val="1a6e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17"/>
          <p:cNvSpPr/>
          <p:nvPr/>
        </p:nvSpPr>
        <p:spPr>
          <a:xfrm>
            <a:off x="365760" y="463608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💡 </a:t>
            </a:r>
            <a:r>
              <a:rPr b="1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Une économie qui place 68% de sa jeunesse dans l'informel agricole ne peut assurer ni inclusion, ni résilience.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457200" y="201240"/>
            <a:ext cx="3634560" cy="237240"/>
          </a:xfrm>
          <a:prstGeom prst="roundRect">
            <a:avLst>
              <a:gd name="adj" fmla="val 15385"/>
            </a:avLst>
          </a:prstGeom>
          <a:solidFill>
            <a:srgbClr val="1a6e7a"/>
          </a:solidFill>
          <a:ln w="12700">
            <a:solidFill>
              <a:srgbClr val="1a6e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457200" y="191880"/>
            <a:ext cx="3634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PROJECTIONS 2025–2035 · 3 SCÉNARIOS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Trebuchet MS"/>
                <a:ea typeface="Trebuchet MS"/>
              </a:rPr>
              <a:t>Le futur dépend des choix politiques d'aujourd'hui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4" name="Chart 0"/>
          <p:cNvGraphicFramePr/>
          <p:nvPr/>
        </p:nvGraphicFramePr>
        <p:xfrm>
          <a:off x="457200" y="1051560"/>
          <a:ext cx="5760360" cy="333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5" name="Text 3"/>
          <p:cNvSpPr/>
          <p:nvPr/>
        </p:nvSpPr>
        <p:spPr>
          <a:xfrm>
            <a:off x="6446520" y="1051560"/>
            <a:ext cx="2422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PROJECTIONS 2035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4"/>
          <p:cNvSpPr/>
          <p:nvPr/>
        </p:nvSpPr>
        <p:spPr>
          <a:xfrm>
            <a:off x="6446520" y="1463040"/>
            <a:ext cx="2422800" cy="868320"/>
          </a:xfrm>
          <a:prstGeom prst="rect">
            <a:avLst/>
          </a:prstGeom>
          <a:solidFill>
            <a:srgbClr val="c0392b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5"/>
          <p:cNvSpPr/>
          <p:nvPr/>
        </p:nvSpPr>
        <p:spPr>
          <a:xfrm>
            <a:off x="6492240" y="1481400"/>
            <a:ext cx="233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Inertie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6"/>
          <p:cNvSpPr/>
          <p:nvPr/>
        </p:nvSpPr>
        <p:spPr>
          <a:xfrm>
            <a:off x="6492240" y="1764720"/>
            <a:ext cx="2331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Trebuchet MS"/>
                <a:ea typeface="Trebuchet MS"/>
              </a:rPr>
              <a:t>45.7% vulnérabilité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6492240" y="2011680"/>
            <a:ext cx="2331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Réduction totale : –4.9%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8"/>
          <p:cNvSpPr/>
          <p:nvPr/>
        </p:nvSpPr>
        <p:spPr>
          <a:xfrm>
            <a:off x="6446520" y="2423160"/>
            <a:ext cx="2422800" cy="868320"/>
          </a:xfrm>
          <a:prstGeom prst="rect">
            <a:avLst/>
          </a:prstGeom>
          <a:solidFill>
            <a:srgbClr val="e8a838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9"/>
          <p:cNvSpPr/>
          <p:nvPr/>
        </p:nvSpPr>
        <p:spPr>
          <a:xfrm>
            <a:off x="6492240" y="2441520"/>
            <a:ext cx="233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Réformes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0"/>
          <p:cNvSpPr/>
          <p:nvPr/>
        </p:nvSpPr>
        <p:spPr>
          <a:xfrm>
            <a:off x="6492240" y="2724840"/>
            <a:ext cx="2331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Trebuchet MS"/>
                <a:ea typeface="Trebuchet MS"/>
              </a:rPr>
              <a:t>41.3% vulnérabilité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1"/>
          <p:cNvSpPr/>
          <p:nvPr/>
        </p:nvSpPr>
        <p:spPr>
          <a:xfrm>
            <a:off x="6492240" y="2971800"/>
            <a:ext cx="2331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Réduction totale : –14.0%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12"/>
          <p:cNvSpPr/>
          <p:nvPr/>
        </p:nvSpPr>
        <p:spPr>
          <a:xfrm>
            <a:off x="6446520" y="3383280"/>
            <a:ext cx="2422800" cy="868320"/>
          </a:xfrm>
          <a:prstGeom prst="rect">
            <a:avLst/>
          </a:prstGeom>
          <a:solidFill>
            <a:srgbClr val="27ae60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13"/>
          <p:cNvSpPr/>
          <p:nvPr/>
        </p:nvSpPr>
        <p:spPr>
          <a:xfrm>
            <a:off x="6492240" y="3401640"/>
            <a:ext cx="2331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Transfo.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4"/>
          <p:cNvSpPr/>
          <p:nvPr/>
        </p:nvSpPr>
        <p:spPr>
          <a:xfrm>
            <a:off x="6492240" y="3684960"/>
            <a:ext cx="2331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Trebuchet MS"/>
                <a:ea typeface="Trebuchet MS"/>
              </a:rPr>
              <a:t>35.4% vulnérabilité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5"/>
          <p:cNvSpPr/>
          <p:nvPr/>
        </p:nvSpPr>
        <p:spPr>
          <a:xfrm>
            <a:off x="6492240" y="3931920"/>
            <a:ext cx="2331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Réduction totale : –26.3%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16"/>
          <p:cNvSpPr/>
          <p:nvPr/>
        </p:nvSpPr>
        <p:spPr>
          <a:xfrm>
            <a:off x="0" y="4617720"/>
            <a:ext cx="9143640" cy="525600"/>
          </a:xfrm>
          <a:prstGeom prst="rect">
            <a:avLst/>
          </a:prstGeom>
          <a:solidFill>
            <a:srgbClr val="1a6e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7"/>
          <p:cNvSpPr/>
          <p:nvPr/>
        </p:nvSpPr>
        <p:spPr>
          <a:xfrm>
            <a:off x="365760" y="463608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💡 </a:t>
            </a:r>
            <a:r>
              <a:rPr b="1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La transformation structurelle réduit la vulnérabilité de 26% en 10 ans — 3x mieux que le scénario d'inertie.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457200" y="201240"/>
            <a:ext cx="2194200" cy="237240"/>
          </a:xfrm>
          <a:prstGeom prst="roundRect">
            <a:avLst>
              <a:gd name="adj" fmla="val 15385"/>
            </a:avLst>
          </a:prstGeom>
          <a:solidFill>
            <a:srgbClr val="e8a838"/>
          </a:solidFill>
          <a:ln w="12700">
            <a:solidFill>
              <a:srgbClr val="e8a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57200" y="191880"/>
            <a:ext cx="2194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LECTURE STRUCTURELLE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rebuchet MS"/>
                <a:ea typeface="Trebuchet MS"/>
              </a:rPr>
              <a:t>Trois fractures qui s'alimentent mutuellement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457200" y="1097280"/>
            <a:ext cx="2697120" cy="3520080"/>
          </a:xfrm>
          <a:prstGeom prst="rect">
            <a:avLst/>
          </a:prstGeom>
          <a:solidFill>
            <a:srgbClr val="1a25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457200" y="1097280"/>
            <a:ext cx="2697120" cy="72720"/>
          </a:xfrm>
          <a:prstGeom prst="rect">
            <a:avLst/>
          </a:prstGeom>
          <a:solidFill>
            <a:srgbClr val="1a6e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594360" y="1188720"/>
            <a:ext cx="63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a6e7a"/>
                </a:solidFill>
                <a:latin typeface="Trebuchet MS"/>
                <a:ea typeface="Trebuchet MS"/>
              </a:rPr>
              <a:t>01</a:t>
            </a:r>
            <a:endParaRPr b="0" lang="fr-F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594360" y="178308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Trebuchet MS"/>
                <a:ea typeface="Trebuchet MS"/>
              </a:rPr>
              <a:t>Le Paradoxe du Diplômé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594360" y="2286000"/>
            <a:ext cx="2422800" cy="36360"/>
          </a:xfrm>
          <a:prstGeom prst="rect">
            <a:avLst/>
          </a:prstGeom>
          <a:solidFill>
            <a:srgbClr val="1a6e7a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594360" y="2423160"/>
            <a:ext cx="24228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dc3c7"/>
                </a:solidFill>
                <a:latin typeface="Calibri"/>
                <a:ea typeface="Calibri"/>
              </a:rPr>
              <a:t>Vulnérabilité tertiaire = 66.5% · Chômage = 27.9%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dc3c7"/>
                </a:solidFill>
                <a:latin typeface="Calibri"/>
                <a:ea typeface="Calibri"/>
              </a:rPr>
              <a:t>L'éducation supérieure crée des attentes que le marché formel ne peut satisfaire.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3355920" y="1097280"/>
            <a:ext cx="2697120" cy="3520080"/>
          </a:xfrm>
          <a:prstGeom prst="rect">
            <a:avLst/>
          </a:prstGeom>
          <a:solidFill>
            <a:srgbClr val="1a25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3355920" y="1097280"/>
            <a:ext cx="2697120" cy="72720"/>
          </a:xfrm>
          <a:prstGeom prst="rect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1"/>
          <p:cNvSpPr/>
          <p:nvPr/>
        </p:nvSpPr>
        <p:spPr>
          <a:xfrm>
            <a:off x="3493080" y="1188720"/>
            <a:ext cx="63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e8a838"/>
                </a:solidFill>
                <a:latin typeface="Trebuchet MS"/>
                <a:ea typeface="Trebuchet MS"/>
              </a:rPr>
              <a:t>02</a:t>
            </a:r>
            <a:endParaRPr b="0" lang="fr-F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12"/>
          <p:cNvSpPr/>
          <p:nvPr/>
        </p:nvSpPr>
        <p:spPr>
          <a:xfrm>
            <a:off x="3493080" y="178308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Trebuchet MS"/>
                <a:ea typeface="Trebuchet MS"/>
              </a:rPr>
              <a:t>L'Exclusion Féminine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13"/>
          <p:cNvSpPr/>
          <p:nvPr/>
        </p:nvSpPr>
        <p:spPr>
          <a:xfrm>
            <a:off x="3493080" y="2286000"/>
            <a:ext cx="2422800" cy="36360"/>
          </a:xfrm>
          <a:prstGeom prst="rect">
            <a:avLst/>
          </a:prstGeom>
          <a:solidFill>
            <a:srgbClr val="e8a838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4"/>
          <p:cNvSpPr/>
          <p:nvPr/>
        </p:nvSpPr>
        <p:spPr>
          <a:xfrm>
            <a:off x="3493080" y="2423160"/>
            <a:ext cx="24228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dc3c7"/>
                </a:solidFill>
                <a:latin typeface="Calibri"/>
                <a:ea typeface="Calibri"/>
              </a:rPr>
              <a:t>Inactivité féminine systématiquement double de celle des hommes.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dc3c7"/>
                </a:solidFill>
                <a:latin typeface="Calibri"/>
                <a:ea typeface="Calibri"/>
              </a:rPr>
              <a:t>Les femmes diplômées restent les plus écartées.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15"/>
          <p:cNvSpPr/>
          <p:nvPr/>
        </p:nvSpPr>
        <p:spPr>
          <a:xfrm>
            <a:off x="6254640" y="1097280"/>
            <a:ext cx="2697120" cy="3520080"/>
          </a:xfrm>
          <a:prstGeom prst="rect">
            <a:avLst/>
          </a:prstGeom>
          <a:solidFill>
            <a:srgbClr val="1a25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16"/>
          <p:cNvSpPr/>
          <p:nvPr/>
        </p:nvSpPr>
        <p:spPr>
          <a:xfrm>
            <a:off x="6254640" y="1097280"/>
            <a:ext cx="2697120" cy="7272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17"/>
          <p:cNvSpPr/>
          <p:nvPr/>
        </p:nvSpPr>
        <p:spPr>
          <a:xfrm>
            <a:off x="6391800" y="1188720"/>
            <a:ext cx="63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c0392b"/>
                </a:solidFill>
                <a:latin typeface="Trebuchet MS"/>
                <a:ea typeface="Trebuchet MS"/>
              </a:rPr>
              <a:t>03</a:t>
            </a:r>
            <a:endParaRPr b="0" lang="fr-F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18"/>
          <p:cNvSpPr/>
          <p:nvPr/>
        </p:nvSpPr>
        <p:spPr>
          <a:xfrm>
            <a:off x="6391800" y="1783080"/>
            <a:ext cx="2422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Trebuchet MS"/>
                <a:ea typeface="Trebuchet MS"/>
              </a:rPr>
              <a:t>La Trappe Informelle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19"/>
          <p:cNvSpPr/>
          <p:nvPr/>
        </p:nvSpPr>
        <p:spPr>
          <a:xfrm>
            <a:off x="6391800" y="2286000"/>
            <a:ext cx="2422800" cy="36360"/>
          </a:xfrm>
          <a:prstGeom prst="rect">
            <a:avLst/>
          </a:prstGeom>
          <a:solidFill>
            <a:srgbClr val="c0392b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20"/>
          <p:cNvSpPr/>
          <p:nvPr/>
        </p:nvSpPr>
        <p:spPr>
          <a:xfrm>
            <a:off x="6391800" y="2423160"/>
            <a:ext cx="24228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dc3c7"/>
                </a:solidFill>
                <a:latin typeface="Calibri"/>
                <a:ea typeface="Calibri"/>
              </a:rPr>
              <a:t>68% dans agriculture + commerce informel.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bdc3c7"/>
                </a:solidFill>
                <a:latin typeface="Calibri"/>
                <a:ea typeface="Calibri"/>
              </a:rPr>
              <a:t>Pas de protection sociale, pas de progression salariale, pas de transfert de compétences.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21"/>
          <p:cNvSpPr/>
          <p:nvPr/>
        </p:nvSpPr>
        <p:spPr>
          <a:xfrm>
            <a:off x="457200" y="4663440"/>
            <a:ext cx="8229240" cy="347040"/>
          </a:xfrm>
          <a:prstGeom prst="rect">
            <a:avLst/>
          </a:prstGeom>
          <a:solidFill>
            <a:srgbClr val="1a6e7a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22"/>
          <p:cNvSpPr/>
          <p:nvPr/>
        </p:nvSpPr>
        <p:spPr>
          <a:xfrm>
            <a:off x="548640" y="4681800"/>
            <a:ext cx="8046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Ces trois fractures forment un système auto-renforçant. Agir sur une seule dimension est insuffisant.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0"/>
          <p:cNvSpPr/>
          <p:nvPr/>
        </p:nvSpPr>
        <p:spPr>
          <a:xfrm>
            <a:off x="457200" y="201240"/>
            <a:ext cx="2962440" cy="237240"/>
          </a:xfrm>
          <a:prstGeom prst="roundRect">
            <a:avLst>
              <a:gd name="adj" fmla="val 15385"/>
            </a:avLst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457200" y="191880"/>
            <a:ext cx="2962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RISQUES · SCÉNARIO D'INERTIE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2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rebuchet MS"/>
                <a:ea typeface="Trebuchet MS"/>
              </a:rPr>
              <a:t>Sans action : le coût humain et économique explose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3"/>
          <p:cNvSpPr/>
          <p:nvPr/>
        </p:nvSpPr>
        <p:spPr>
          <a:xfrm>
            <a:off x="457200" y="1188720"/>
            <a:ext cx="4023000" cy="1508400"/>
          </a:xfrm>
          <a:prstGeom prst="rect">
            <a:avLst/>
          </a:prstGeom>
          <a:solidFill>
            <a:srgbClr val="2a101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Shape 4"/>
          <p:cNvSpPr/>
          <p:nvPr/>
        </p:nvSpPr>
        <p:spPr>
          <a:xfrm>
            <a:off x="457200" y="1188720"/>
            <a:ext cx="72720" cy="15084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621720" y="128016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0392b"/>
                </a:solidFill>
                <a:latin typeface="Calibri"/>
                <a:ea typeface="Calibri"/>
              </a:rPr>
              <a:t>Chômage de masse des diplômés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621720" y="164592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0d0d0"/>
                </a:solidFill>
                <a:latin typeface="Calibri"/>
                <a:ea typeface="Calibri"/>
              </a:rPr>
              <a:t>Le stock de diplômés sans emploi double d'ici 2035. Émigration des talents qualifiés vers l'Europe et l'Afrique du Sud.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7"/>
          <p:cNvSpPr/>
          <p:nvPr/>
        </p:nvSpPr>
        <p:spPr>
          <a:xfrm>
            <a:off x="4754880" y="1188720"/>
            <a:ext cx="4023000" cy="1508400"/>
          </a:xfrm>
          <a:prstGeom prst="rect">
            <a:avLst/>
          </a:prstGeom>
          <a:solidFill>
            <a:srgbClr val="2a101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8"/>
          <p:cNvSpPr/>
          <p:nvPr/>
        </p:nvSpPr>
        <p:spPr>
          <a:xfrm>
            <a:off x="4754880" y="1188720"/>
            <a:ext cx="72720" cy="1508400"/>
          </a:xfrm>
          <a:prstGeom prst="rect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9"/>
          <p:cNvSpPr/>
          <p:nvPr/>
        </p:nvSpPr>
        <p:spPr>
          <a:xfrm>
            <a:off x="4919400" y="128016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8a838"/>
                </a:solidFill>
                <a:latin typeface="Calibri"/>
                <a:ea typeface="Calibri"/>
              </a:rPr>
              <a:t>générations de femmes exclues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10"/>
          <p:cNvSpPr/>
          <p:nvPr/>
        </p:nvSpPr>
        <p:spPr>
          <a:xfrm>
            <a:off x="4919400" y="164592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0d0d0"/>
                </a:solidFill>
                <a:latin typeface="Calibri"/>
                <a:ea typeface="Calibri"/>
              </a:rPr>
              <a:t>Avec une inactivité féminine à 65%+ dans le secondaire supérieur, c'est le potentiel économique de millions de femmes qui disparaît.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11"/>
          <p:cNvSpPr/>
          <p:nvPr/>
        </p:nvSpPr>
        <p:spPr>
          <a:xfrm>
            <a:off x="457200" y="2880360"/>
            <a:ext cx="4023000" cy="1508400"/>
          </a:xfrm>
          <a:prstGeom prst="rect">
            <a:avLst/>
          </a:prstGeom>
          <a:solidFill>
            <a:srgbClr val="2a101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12"/>
          <p:cNvSpPr/>
          <p:nvPr/>
        </p:nvSpPr>
        <p:spPr>
          <a:xfrm>
            <a:off x="457200" y="2880360"/>
            <a:ext cx="72720" cy="1508400"/>
          </a:xfrm>
          <a:prstGeom prst="rect">
            <a:avLst/>
          </a:prstGeom>
          <a:solidFill>
            <a:srgbClr val="2b9d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13"/>
          <p:cNvSpPr/>
          <p:nvPr/>
        </p:nvSpPr>
        <p:spPr>
          <a:xfrm>
            <a:off x="621720" y="297180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b9dae"/>
                </a:solidFill>
                <a:latin typeface="Calibri"/>
                <a:ea typeface="Calibri"/>
              </a:rPr>
              <a:t>Dépendance à l'informel agricole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14"/>
          <p:cNvSpPr/>
          <p:nvPr/>
        </p:nvSpPr>
        <p:spPr>
          <a:xfrm>
            <a:off x="621720" y="333756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0d0d0"/>
                </a:solidFill>
                <a:latin typeface="Calibri"/>
                <a:ea typeface="Calibri"/>
              </a:rPr>
              <a:t>Hyper-dépendance à l'agriculture informelle = exposition totale aux chocs climatiques, absence de protection sociale.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Shape 15"/>
          <p:cNvSpPr/>
          <p:nvPr/>
        </p:nvSpPr>
        <p:spPr>
          <a:xfrm>
            <a:off x="4754880" y="2880360"/>
            <a:ext cx="4023000" cy="1508400"/>
          </a:xfrm>
          <a:prstGeom prst="rect">
            <a:avLst/>
          </a:prstGeom>
          <a:solidFill>
            <a:srgbClr val="2a101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16"/>
          <p:cNvSpPr/>
          <p:nvPr/>
        </p:nvSpPr>
        <p:spPr>
          <a:xfrm>
            <a:off x="4754880" y="2880360"/>
            <a:ext cx="72720" cy="1508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17"/>
          <p:cNvSpPr/>
          <p:nvPr/>
        </p:nvSpPr>
        <p:spPr>
          <a:xfrm>
            <a:off x="4919400" y="297180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74c3c"/>
                </a:solidFill>
                <a:latin typeface="Calibri"/>
                <a:ea typeface="Calibri"/>
              </a:rPr>
              <a:t>Instabilité sociale croissante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18"/>
          <p:cNvSpPr/>
          <p:nvPr/>
        </p:nvSpPr>
        <p:spPr>
          <a:xfrm>
            <a:off x="4919400" y="333756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d0d0d0"/>
                </a:solidFill>
                <a:latin typeface="Calibri"/>
                <a:ea typeface="Calibri"/>
              </a:rPr>
              <a:t>Une jeunesse instruite et sans perspective économique est le terreau de tensions sociales durables.</a:t>
            </a:r>
            <a:endParaRPr b="0" lang="fr-F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19"/>
          <p:cNvSpPr/>
          <p:nvPr/>
        </p:nvSpPr>
        <p:spPr>
          <a:xfrm>
            <a:off x="0" y="4617720"/>
            <a:ext cx="9143640" cy="525600"/>
          </a:xfrm>
          <a:prstGeom prst="rect">
            <a:avLst/>
          </a:prstGeom>
          <a:solidFill>
            <a:srgbClr val="1a6e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20"/>
          <p:cNvSpPr/>
          <p:nvPr/>
        </p:nvSpPr>
        <p:spPr>
          <a:xfrm>
            <a:off x="365760" y="463608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💡 </a:t>
            </a:r>
            <a:r>
              <a:rPr b="1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L'inertie n'est pas le statu quo : c'est une aggravation certaine des inégalités de genre, d'éducation et de revenus.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457200" y="201240"/>
            <a:ext cx="2770200" cy="237240"/>
          </a:xfrm>
          <a:prstGeom prst="roundRect">
            <a:avLst>
              <a:gd name="adj" fmla="val 15385"/>
            </a:avLst>
          </a:prstGeom>
          <a:solidFill>
            <a:srgbClr val="1a6e7a"/>
          </a:solidFill>
          <a:ln w="12700">
            <a:solidFill>
              <a:srgbClr val="1a6e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457200" y="191880"/>
            <a:ext cx="2770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RECOMMANDATIONS POLITIQUES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2c3e50"/>
                </a:solidFill>
                <a:latin typeface="Trebuchet MS"/>
                <a:ea typeface="Trebuchet MS"/>
              </a:rPr>
              <a:t>4 leviers d'action prioritaires pour accélérer l'inclusion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3"/>
          <p:cNvSpPr/>
          <p:nvPr/>
        </p:nvSpPr>
        <p:spPr>
          <a:xfrm>
            <a:off x="457200" y="1097280"/>
            <a:ext cx="4023000" cy="1645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4"/>
          <p:cNvSpPr/>
          <p:nvPr/>
        </p:nvSpPr>
        <p:spPr>
          <a:xfrm>
            <a:off x="457200" y="1097280"/>
            <a:ext cx="72720" cy="1645560"/>
          </a:xfrm>
          <a:prstGeom prst="rect">
            <a:avLst/>
          </a:prstGeom>
          <a:solidFill>
            <a:srgbClr val="1a6e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5"/>
          <p:cNvSpPr/>
          <p:nvPr/>
        </p:nvSpPr>
        <p:spPr>
          <a:xfrm>
            <a:off x="621720" y="1097280"/>
            <a:ext cx="502560" cy="347040"/>
          </a:xfrm>
          <a:prstGeom prst="rect">
            <a:avLst/>
          </a:prstGeom>
          <a:solidFill>
            <a:srgbClr val="1a6e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621720" y="1115640"/>
            <a:ext cx="502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Trebuchet MS"/>
                <a:ea typeface="Trebuchet MS"/>
              </a:rPr>
              <a:t>R1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7"/>
          <p:cNvSpPr/>
          <p:nvPr/>
        </p:nvSpPr>
        <p:spPr>
          <a:xfrm>
            <a:off x="1207080" y="11430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Réforme éducation–emploi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8"/>
          <p:cNvSpPr/>
          <p:nvPr/>
        </p:nvSpPr>
        <p:spPr>
          <a:xfrm>
            <a:off x="621720" y="1508760"/>
            <a:ext cx="3748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Créer des passerelles entre universités et secteurs formels émergents (tech, agri-tech, énergie verte). Financer des stages certifiants dans l'administration et le secteur privé formel.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9"/>
          <p:cNvSpPr/>
          <p:nvPr/>
        </p:nvSpPr>
        <p:spPr>
          <a:xfrm>
            <a:off x="621720" y="2496240"/>
            <a:ext cx="3748680" cy="228240"/>
          </a:xfrm>
          <a:prstGeom prst="rect">
            <a:avLst/>
          </a:prstGeom>
          <a:solidFill>
            <a:srgbClr val="1a6e7a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10"/>
          <p:cNvSpPr/>
          <p:nvPr/>
        </p:nvSpPr>
        <p:spPr>
          <a:xfrm>
            <a:off x="658440" y="250560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6e7a"/>
                </a:solidFill>
                <a:latin typeface="Calibri"/>
                <a:ea typeface="Calibri"/>
              </a:rPr>
              <a:t>Court terme · 2026–2028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1"/>
          <p:cNvSpPr/>
          <p:nvPr/>
        </p:nvSpPr>
        <p:spPr>
          <a:xfrm>
            <a:off x="4754880" y="1097280"/>
            <a:ext cx="4023000" cy="1645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2"/>
          <p:cNvSpPr/>
          <p:nvPr/>
        </p:nvSpPr>
        <p:spPr>
          <a:xfrm>
            <a:off x="4754880" y="1097280"/>
            <a:ext cx="72720" cy="1645560"/>
          </a:xfrm>
          <a:prstGeom prst="rect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13"/>
          <p:cNvSpPr/>
          <p:nvPr/>
        </p:nvSpPr>
        <p:spPr>
          <a:xfrm>
            <a:off x="4919400" y="1097280"/>
            <a:ext cx="502560" cy="347040"/>
          </a:xfrm>
          <a:prstGeom prst="rect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14"/>
          <p:cNvSpPr/>
          <p:nvPr/>
        </p:nvSpPr>
        <p:spPr>
          <a:xfrm>
            <a:off x="4919400" y="1115640"/>
            <a:ext cx="502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Trebuchet MS"/>
                <a:ea typeface="Trebuchet MS"/>
              </a:rPr>
              <a:t>R2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5"/>
          <p:cNvSpPr/>
          <p:nvPr/>
        </p:nvSpPr>
        <p:spPr>
          <a:xfrm>
            <a:off x="5504760" y="11430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Activation économique féminine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6"/>
          <p:cNvSpPr/>
          <p:nvPr/>
        </p:nvSpPr>
        <p:spPr>
          <a:xfrm>
            <a:off x="4919400" y="1508760"/>
            <a:ext cx="3748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Programmes d'entrepreneuriat ciblés femmes diplômées. Accès au crédit simplifié, crèches d'entreprise, quotas dans la fonction publique formelle.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17"/>
          <p:cNvSpPr/>
          <p:nvPr/>
        </p:nvSpPr>
        <p:spPr>
          <a:xfrm>
            <a:off x="4919400" y="2496240"/>
            <a:ext cx="3748680" cy="228240"/>
          </a:xfrm>
          <a:prstGeom prst="rect">
            <a:avLst/>
          </a:prstGeom>
          <a:solidFill>
            <a:srgbClr val="e8a838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8"/>
          <p:cNvSpPr/>
          <p:nvPr/>
        </p:nvSpPr>
        <p:spPr>
          <a:xfrm>
            <a:off x="4956120" y="250560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8a838"/>
                </a:solidFill>
                <a:latin typeface="Calibri"/>
                <a:ea typeface="Calibri"/>
              </a:rPr>
              <a:t>Court–moyen terme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9"/>
          <p:cNvSpPr/>
          <p:nvPr/>
        </p:nvSpPr>
        <p:spPr>
          <a:xfrm>
            <a:off x="457200" y="2880360"/>
            <a:ext cx="4023000" cy="1645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20"/>
          <p:cNvSpPr/>
          <p:nvPr/>
        </p:nvSpPr>
        <p:spPr>
          <a:xfrm>
            <a:off x="457200" y="2880360"/>
            <a:ext cx="72720" cy="164556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21"/>
          <p:cNvSpPr/>
          <p:nvPr/>
        </p:nvSpPr>
        <p:spPr>
          <a:xfrm>
            <a:off x="621720" y="2880360"/>
            <a:ext cx="502560" cy="34704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22"/>
          <p:cNvSpPr/>
          <p:nvPr/>
        </p:nvSpPr>
        <p:spPr>
          <a:xfrm>
            <a:off x="621720" y="2898720"/>
            <a:ext cx="502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Trebuchet MS"/>
                <a:ea typeface="Trebuchet MS"/>
              </a:rPr>
              <a:t>R3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23"/>
          <p:cNvSpPr/>
          <p:nvPr/>
        </p:nvSpPr>
        <p:spPr>
          <a:xfrm>
            <a:off x="1207080" y="29260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Formalisation des secteurs clés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24"/>
          <p:cNvSpPr/>
          <p:nvPr/>
        </p:nvSpPr>
        <p:spPr>
          <a:xfrm>
            <a:off x="621720" y="3291840"/>
            <a:ext cx="3748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Incitations fiscales à la formalisation dans le commerce et l'agriculture. Protections sociales pour les travailleurs informels. Coopératives agricoles structurées.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5"/>
          <p:cNvSpPr/>
          <p:nvPr/>
        </p:nvSpPr>
        <p:spPr>
          <a:xfrm>
            <a:off x="621720" y="4279320"/>
            <a:ext cx="3748680" cy="228240"/>
          </a:xfrm>
          <a:prstGeom prst="rect">
            <a:avLst/>
          </a:prstGeom>
          <a:solidFill>
            <a:srgbClr val="27ae60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26"/>
          <p:cNvSpPr/>
          <p:nvPr/>
        </p:nvSpPr>
        <p:spPr>
          <a:xfrm>
            <a:off x="658440" y="428868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7ae60"/>
                </a:solidFill>
                <a:latin typeface="Calibri"/>
                <a:ea typeface="Calibri"/>
              </a:rPr>
              <a:t>Moyen terme · 2026–2030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7"/>
          <p:cNvSpPr/>
          <p:nvPr/>
        </p:nvSpPr>
        <p:spPr>
          <a:xfrm>
            <a:off x="4754880" y="2880360"/>
            <a:ext cx="4023000" cy="1645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8"/>
          <p:cNvSpPr/>
          <p:nvPr/>
        </p:nvSpPr>
        <p:spPr>
          <a:xfrm>
            <a:off x="4754880" y="2880360"/>
            <a:ext cx="72720" cy="1645560"/>
          </a:xfrm>
          <a:prstGeom prst="rect">
            <a:avLst/>
          </a:prstGeom>
          <a:solidFill>
            <a:srgbClr val="2b9d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29"/>
          <p:cNvSpPr/>
          <p:nvPr/>
        </p:nvSpPr>
        <p:spPr>
          <a:xfrm>
            <a:off x="4919400" y="2880360"/>
            <a:ext cx="502560" cy="347040"/>
          </a:xfrm>
          <a:prstGeom prst="rect">
            <a:avLst/>
          </a:prstGeom>
          <a:solidFill>
            <a:srgbClr val="2b9d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30"/>
          <p:cNvSpPr/>
          <p:nvPr/>
        </p:nvSpPr>
        <p:spPr>
          <a:xfrm>
            <a:off x="4919400" y="2898720"/>
            <a:ext cx="502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Trebuchet MS"/>
                <a:ea typeface="Trebuchet MS"/>
              </a:rPr>
              <a:t>R4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31"/>
          <p:cNvSpPr/>
          <p:nvPr/>
        </p:nvSpPr>
        <p:spPr>
          <a:xfrm>
            <a:off x="5504760" y="29260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Calibri"/>
                <a:ea typeface="Calibri"/>
              </a:rPr>
              <a:t>Diversification sectorielle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32"/>
          <p:cNvSpPr/>
          <p:nvPr/>
        </p:nvSpPr>
        <p:spPr>
          <a:xfrm>
            <a:off x="4919400" y="3291840"/>
            <a:ext cx="37486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Zones économiques spéciales pour attirer l'industrie manufacturière. Investissements publics dans le numérique, la logistique et l'économie verte.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33"/>
          <p:cNvSpPr/>
          <p:nvPr/>
        </p:nvSpPr>
        <p:spPr>
          <a:xfrm>
            <a:off x="4919400" y="4279320"/>
            <a:ext cx="3748680" cy="228240"/>
          </a:xfrm>
          <a:prstGeom prst="rect">
            <a:avLst/>
          </a:prstGeom>
          <a:solidFill>
            <a:srgbClr val="2b9dae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34"/>
          <p:cNvSpPr/>
          <p:nvPr/>
        </p:nvSpPr>
        <p:spPr>
          <a:xfrm>
            <a:off x="4956120" y="428868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b9dae"/>
                </a:solidFill>
                <a:latin typeface="Calibri"/>
                <a:ea typeface="Calibri"/>
              </a:rPr>
              <a:t>Long terme · 2030–2035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35"/>
          <p:cNvSpPr/>
          <p:nvPr/>
        </p:nvSpPr>
        <p:spPr>
          <a:xfrm>
            <a:off x="0" y="4617720"/>
            <a:ext cx="9143640" cy="525600"/>
          </a:xfrm>
          <a:prstGeom prst="rect">
            <a:avLst/>
          </a:prstGeom>
          <a:solidFill>
            <a:srgbClr val="1a6e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36"/>
          <p:cNvSpPr/>
          <p:nvPr/>
        </p:nvSpPr>
        <p:spPr>
          <a:xfrm>
            <a:off x="365760" y="463608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💡 </a:t>
            </a:r>
            <a:r>
              <a:rPr b="1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Des réformes simultanées et coordonnées sur l'éducation, le genre, l'informalité et la diversification sont indispensables.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457200" y="201240"/>
            <a:ext cx="3826440" cy="237240"/>
          </a:xfrm>
          <a:prstGeom prst="roundRect">
            <a:avLst>
              <a:gd name="adj" fmla="val 15385"/>
            </a:avLst>
          </a:prstGeom>
          <a:solidFill>
            <a:srgbClr val="27ae60"/>
          </a:solidFill>
          <a:ln w="127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"/>
          <p:cNvSpPr/>
          <p:nvPr/>
        </p:nvSpPr>
        <p:spPr>
          <a:xfrm>
            <a:off x="457200" y="191880"/>
            <a:ext cx="3826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VISION 2035 · SCÉNARIO TRANSFORMATION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2"/>
          <p:cNvSpPr/>
          <p:nvPr/>
        </p:nvSpPr>
        <p:spPr>
          <a:xfrm>
            <a:off x="457200" y="4572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Trebuchet MS"/>
                <a:ea typeface="Trebuchet MS"/>
              </a:rPr>
              <a:t>Une Côte d'Ivoire où chaque jeune a sa place dans l'économie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3"/>
          <p:cNvSpPr/>
          <p:nvPr/>
        </p:nvSpPr>
        <p:spPr>
          <a:xfrm>
            <a:off x="731520" y="2743200"/>
            <a:ext cx="7772400" cy="360"/>
          </a:xfrm>
          <a:prstGeom prst="line">
            <a:avLst/>
          </a:prstGeom>
          <a:ln w="25400">
            <a:solidFill>
              <a:srgbClr val="1a6e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4"/>
          <p:cNvSpPr/>
          <p:nvPr/>
        </p:nvSpPr>
        <p:spPr>
          <a:xfrm>
            <a:off x="621720" y="2615040"/>
            <a:ext cx="255600" cy="255600"/>
          </a:xfrm>
          <a:prstGeom prst="ellipse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5"/>
          <p:cNvSpPr/>
          <p:nvPr/>
        </p:nvSpPr>
        <p:spPr>
          <a:xfrm>
            <a:off x="411480" y="29077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8a838"/>
                </a:solidFill>
                <a:latin typeface="Trebuchet MS"/>
                <a:ea typeface="Trebuchet MS"/>
              </a:rPr>
              <a:t>2026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6"/>
          <p:cNvSpPr/>
          <p:nvPr/>
        </p:nvSpPr>
        <p:spPr>
          <a:xfrm>
            <a:off x="274320" y="3218760"/>
            <a:ext cx="118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Réformes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pédagogiques lancées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7"/>
          <p:cNvSpPr/>
          <p:nvPr/>
        </p:nvSpPr>
        <p:spPr>
          <a:xfrm>
            <a:off x="2541960" y="2615040"/>
            <a:ext cx="255600" cy="255600"/>
          </a:xfrm>
          <a:prstGeom prst="ellipse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8"/>
          <p:cNvSpPr/>
          <p:nvPr/>
        </p:nvSpPr>
        <p:spPr>
          <a:xfrm>
            <a:off x="2331720" y="29077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8a838"/>
                </a:solidFill>
                <a:latin typeface="Trebuchet MS"/>
                <a:ea typeface="Trebuchet MS"/>
              </a:rPr>
              <a:t>2028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9"/>
          <p:cNvSpPr/>
          <p:nvPr/>
        </p:nvSpPr>
        <p:spPr>
          <a:xfrm>
            <a:off x="2194560" y="3218760"/>
            <a:ext cx="118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Programmes genre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+50k bénéficiaires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Shape 10"/>
          <p:cNvSpPr/>
          <p:nvPr/>
        </p:nvSpPr>
        <p:spPr>
          <a:xfrm>
            <a:off x="4462200" y="2615040"/>
            <a:ext cx="255600" cy="255600"/>
          </a:xfrm>
          <a:prstGeom prst="ellipse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11"/>
          <p:cNvSpPr/>
          <p:nvPr/>
        </p:nvSpPr>
        <p:spPr>
          <a:xfrm>
            <a:off x="4251960" y="29077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8a838"/>
                </a:solidFill>
                <a:latin typeface="Trebuchet MS"/>
                <a:ea typeface="Trebuchet MS"/>
              </a:rPr>
              <a:t>2030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12"/>
          <p:cNvSpPr/>
          <p:nvPr/>
        </p:nvSpPr>
        <p:spPr>
          <a:xfrm>
            <a:off x="4114800" y="3218760"/>
            <a:ext cx="118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Formalisation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+30% emplois formels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13"/>
          <p:cNvSpPr/>
          <p:nvPr/>
        </p:nvSpPr>
        <p:spPr>
          <a:xfrm>
            <a:off x="6382440" y="2615040"/>
            <a:ext cx="255600" cy="255600"/>
          </a:xfrm>
          <a:prstGeom prst="ellipse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4"/>
          <p:cNvSpPr/>
          <p:nvPr/>
        </p:nvSpPr>
        <p:spPr>
          <a:xfrm>
            <a:off x="6172200" y="29077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8a838"/>
                </a:solidFill>
                <a:latin typeface="Trebuchet MS"/>
                <a:ea typeface="Trebuchet MS"/>
              </a:rPr>
              <a:t>2035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15"/>
          <p:cNvSpPr/>
          <p:nvPr/>
        </p:nvSpPr>
        <p:spPr>
          <a:xfrm>
            <a:off x="6035040" y="3218760"/>
            <a:ext cx="1188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Vulnérabilité ≤ 35%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Objectif atteint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16"/>
          <p:cNvSpPr/>
          <p:nvPr/>
        </p:nvSpPr>
        <p:spPr>
          <a:xfrm>
            <a:off x="457200" y="1097280"/>
            <a:ext cx="1965600" cy="1234080"/>
          </a:xfrm>
          <a:prstGeom prst="rect">
            <a:avLst/>
          </a:prstGeom>
          <a:solidFill>
            <a:srgbClr val="1a6e7a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17"/>
          <p:cNvSpPr/>
          <p:nvPr/>
        </p:nvSpPr>
        <p:spPr>
          <a:xfrm>
            <a:off x="457200" y="1143000"/>
            <a:ext cx="1965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e8a838"/>
                </a:solidFill>
                <a:latin typeface="Trebuchet MS"/>
                <a:ea typeface="Trebuchet MS"/>
              </a:rPr>
              <a:t>–</a:t>
            </a:r>
            <a:r>
              <a:rPr b="1" lang="en-US" sz="2600" spc="-1" strike="noStrike">
                <a:solidFill>
                  <a:srgbClr val="e8a838"/>
                </a:solidFill>
                <a:latin typeface="Trebuchet MS"/>
                <a:ea typeface="Trebuchet MS"/>
              </a:rPr>
              <a:t>26.3%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18"/>
          <p:cNvSpPr/>
          <p:nvPr/>
        </p:nvSpPr>
        <p:spPr>
          <a:xfrm>
            <a:off x="457200" y="1710000"/>
            <a:ext cx="1965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Réduction vulnérabilité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(vs inertie : –4.9%)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19"/>
          <p:cNvSpPr/>
          <p:nvPr/>
        </p:nvSpPr>
        <p:spPr>
          <a:xfrm>
            <a:off x="2606040" y="1097280"/>
            <a:ext cx="1965600" cy="1234080"/>
          </a:xfrm>
          <a:prstGeom prst="rect">
            <a:avLst/>
          </a:prstGeom>
          <a:solidFill>
            <a:srgbClr val="1a6e7a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20"/>
          <p:cNvSpPr/>
          <p:nvPr/>
        </p:nvSpPr>
        <p:spPr>
          <a:xfrm>
            <a:off x="2606040" y="1143000"/>
            <a:ext cx="1965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e8a838"/>
                </a:solidFill>
                <a:latin typeface="Trebuchet MS"/>
                <a:ea typeface="Trebuchet MS"/>
              </a:rPr>
              <a:t>35.4%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21"/>
          <p:cNvSpPr/>
          <p:nvPr/>
        </p:nvSpPr>
        <p:spPr>
          <a:xfrm>
            <a:off x="2606040" y="1710000"/>
            <a:ext cx="1965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Indice vulnérabilité 2035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(vs 48% actuel)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22"/>
          <p:cNvSpPr/>
          <p:nvPr/>
        </p:nvSpPr>
        <p:spPr>
          <a:xfrm>
            <a:off x="4754880" y="1097280"/>
            <a:ext cx="1965600" cy="1234080"/>
          </a:xfrm>
          <a:prstGeom prst="rect">
            <a:avLst/>
          </a:prstGeom>
          <a:solidFill>
            <a:srgbClr val="1a6e7a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23"/>
          <p:cNvSpPr/>
          <p:nvPr/>
        </p:nvSpPr>
        <p:spPr>
          <a:xfrm>
            <a:off x="4754880" y="1143000"/>
            <a:ext cx="1965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e8a838"/>
                </a:solidFill>
                <a:latin typeface="Trebuchet MS"/>
                <a:ea typeface="Trebuchet MS"/>
              </a:rPr>
              <a:t>×2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24"/>
          <p:cNvSpPr/>
          <p:nvPr/>
        </p:nvSpPr>
        <p:spPr>
          <a:xfrm>
            <a:off x="4754880" y="1710000"/>
            <a:ext cx="1965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Emplois formels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créés pour les femmes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25"/>
          <p:cNvSpPr/>
          <p:nvPr/>
        </p:nvSpPr>
        <p:spPr>
          <a:xfrm>
            <a:off x="6903720" y="1097280"/>
            <a:ext cx="1965600" cy="1234080"/>
          </a:xfrm>
          <a:prstGeom prst="rect">
            <a:avLst/>
          </a:prstGeom>
          <a:solidFill>
            <a:srgbClr val="1a6e7a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26"/>
          <p:cNvSpPr/>
          <p:nvPr/>
        </p:nvSpPr>
        <p:spPr>
          <a:xfrm>
            <a:off x="6903720" y="1143000"/>
            <a:ext cx="1965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e8a838"/>
                </a:solidFill>
                <a:latin typeface="Trebuchet MS"/>
                <a:ea typeface="Trebuchet MS"/>
              </a:rPr>
              <a:t>3 secteurs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27"/>
          <p:cNvSpPr/>
          <p:nvPr/>
        </p:nvSpPr>
        <p:spPr>
          <a:xfrm>
            <a:off x="6903720" y="1710000"/>
            <a:ext cx="1965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émergents structurés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(tech, agri, énergie)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Shape 28"/>
          <p:cNvSpPr/>
          <p:nvPr/>
        </p:nvSpPr>
        <p:spPr>
          <a:xfrm>
            <a:off x="0" y="4617720"/>
            <a:ext cx="9143640" cy="525600"/>
          </a:xfrm>
          <a:prstGeom prst="rect">
            <a:avLst/>
          </a:prstGeom>
          <a:solidFill>
            <a:srgbClr val="1a6e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29"/>
          <p:cNvSpPr/>
          <p:nvPr/>
        </p:nvSpPr>
        <p:spPr>
          <a:xfrm>
            <a:off x="365760" y="463608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💡 </a:t>
            </a:r>
            <a:r>
              <a:rPr b="1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La transformation structurelle est possible — et chiffrée. Il s'agit d'un choix politique, pas d'une utopie.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hape 0"/>
          <p:cNvSpPr/>
          <p:nvPr/>
        </p:nvSpPr>
        <p:spPr>
          <a:xfrm>
            <a:off x="0" y="0"/>
            <a:ext cx="9143640" cy="109440"/>
          </a:xfrm>
          <a:prstGeom prst="rect">
            <a:avLst/>
          </a:prstGeom>
          <a:solidFill>
            <a:srgbClr val="e8a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"/>
          <p:cNvSpPr/>
          <p:nvPr/>
        </p:nvSpPr>
        <p:spPr>
          <a:xfrm>
            <a:off x="0" y="5033880"/>
            <a:ext cx="9143640" cy="109440"/>
          </a:xfrm>
          <a:prstGeom prst="rect">
            <a:avLst/>
          </a:prstGeom>
          <a:solidFill>
            <a:srgbClr val="1a6e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2"/>
          <p:cNvSpPr/>
          <p:nvPr/>
        </p:nvSpPr>
        <p:spPr>
          <a:xfrm>
            <a:off x="731520" y="457200"/>
            <a:ext cx="7680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e8a838"/>
                </a:solidFill>
                <a:latin typeface="Trebuchet MS"/>
                <a:ea typeface="Trebuchet MS"/>
              </a:rPr>
              <a:t>Les données ont parlé.</a:t>
            </a:r>
            <a:endParaRPr b="0" lang="fr-FR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3"/>
          <p:cNvSpPr/>
          <p:nvPr/>
        </p:nvSpPr>
        <p:spPr>
          <a:xfrm>
            <a:off x="731520" y="1188720"/>
            <a:ext cx="7680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rebuchet MS"/>
                <a:ea typeface="Trebuchet MS"/>
              </a:rPr>
              <a:t>Il est temps que les politiques répondent.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4"/>
          <p:cNvSpPr/>
          <p:nvPr/>
        </p:nvSpPr>
        <p:spPr>
          <a:xfrm>
            <a:off x="1097280" y="2057400"/>
            <a:ext cx="6949080" cy="594000"/>
          </a:xfrm>
          <a:prstGeom prst="rect">
            <a:avLst/>
          </a:prstGeom>
          <a:solidFill>
            <a:srgbClr val="1a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5"/>
          <p:cNvSpPr/>
          <p:nvPr/>
        </p:nvSpPr>
        <p:spPr>
          <a:xfrm>
            <a:off x="1280160" y="2084760"/>
            <a:ext cx="6583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48% de vulnérabilité en 2025 : près d'un jeune sur deux hors emploi productif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6"/>
          <p:cNvSpPr/>
          <p:nvPr/>
        </p:nvSpPr>
        <p:spPr>
          <a:xfrm>
            <a:off x="1097280" y="2770560"/>
            <a:ext cx="6949080" cy="594000"/>
          </a:xfrm>
          <a:prstGeom prst="rect">
            <a:avLst/>
          </a:prstGeom>
          <a:solidFill>
            <a:srgbClr val="1a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7"/>
          <p:cNvSpPr/>
          <p:nvPr/>
        </p:nvSpPr>
        <p:spPr>
          <a:xfrm>
            <a:off x="1280160" y="2797920"/>
            <a:ext cx="6583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 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La transformation structurelle peut réduire cette vulnérabilité de 26% en 10 ans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8"/>
          <p:cNvSpPr/>
          <p:nvPr/>
        </p:nvSpPr>
        <p:spPr>
          <a:xfrm>
            <a:off x="1097280" y="3483720"/>
            <a:ext cx="6949080" cy="594000"/>
          </a:xfrm>
          <a:prstGeom prst="rect">
            <a:avLst/>
          </a:prstGeom>
          <a:solidFill>
            <a:srgbClr val="1a253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9"/>
          <p:cNvSpPr/>
          <p:nvPr/>
        </p:nvSpPr>
        <p:spPr>
          <a:xfrm>
            <a:off x="1280160" y="3511440"/>
            <a:ext cx="6583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  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Mais cela exige des réformes simultanées : éducation, genre, formalisation, diversification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10"/>
          <p:cNvSpPr/>
          <p:nvPr/>
        </p:nvSpPr>
        <p:spPr>
          <a:xfrm>
            <a:off x="457200" y="46177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  <a:ea typeface="Calibri"/>
              </a:rPr>
              <a:t>Data for Development Hackathon · Côte d'Ivoire 2026 · World Data Lab</a:t>
            </a:r>
            <a:endParaRPr b="0" lang="fr-FR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2026-05-15T19:41:40Z</dcterms:created>
  <dc:creator>PptxGenJS</dc:creator>
  <dc:description/>
  <dc:language>fr-FR</dc:language>
  <cp:lastModifiedBy/>
  <dcterms:modified xsi:type="dcterms:W3CDTF">2026-05-22T19:54:17Z</dcterms:modified>
  <cp:revision>2</cp:revision>
  <dc:subject>PptxGenJS Presentation</dc:subject>
  <dc:title>Vulnérabilité des jeunes en Côte d'Ivoire – 2035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